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44050" y="2947645"/>
            <a:ext cx="9276921" cy="81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Orbit Protocol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44050" y="4163787"/>
            <a:ext cx="9276921" cy="218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6"/>
              </a:lnSpc>
            </a:pPr>
            <a:r>
              <a:rPr lang="en-US" sz="668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Institutional-Grade Yield on Stellar Soroban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44050" y="6710182"/>
            <a:ext cx="10192017" cy="59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Earn Real Yield · Yield Tranching · P2P Collateral Lending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859" y="3132782"/>
            <a:ext cx="16140112" cy="81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Three Structural Failures in DeFi Today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80859" y="4560532"/>
            <a:ext cx="617658" cy="617677"/>
          </a:xfrm>
          <a:custGeom>
            <a:avLst/>
            <a:gdLst/>
            <a:ahLst/>
            <a:cxnLst/>
            <a:rect r="r" b="b" t="t" l="l"/>
            <a:pathLst>
              <a:path h="617677" w="617658">
                <a:moveTo>
                  <a:pt x="0" y="0"/>
                </a:moveTo>
                <a:lnTo>
                  <a:pt x="617658" y="0"/>
                </a:lnTo>
                <a:lnTo>
                  <a:pt x="617658" y="617677"/>
                </a:lnTo>
                <a:lnTo>
                  <a:pt x="0" y="617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0859" y="5545217"/>
            <a:ext cx="5122669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Fake Yields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6030839"/>
            <a:ext cx="5122669" cy="109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85% of DeFi APY</a:t>
            </a: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= printed tokens, not real lending returns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89586" y="4560532"/>
            <a:ext cx="617658" cy="617677"/>
          </a:xfrm>
          <a:custGeom>
            <a:avLst/>
            <a:gdLst/>
            <a:ahLst/>
            <a:cxnLst/>
            <a:rect r="r" b="b" t="t" l="l"/>
            <a:pathLst>
              <a:path h="617677" w="617658">
                <a:moveTo>
                  <a:pt x="0" y="0"/>
                </a:moveTo>
                <a:lnTo>
                  <a:pt x="617658" y="0"/>
                </a:lnTo>
                <a:lnTo>
                  <a:pt x="617658" y="617677"/>
                </a:lnTo>
                <a:lnTo>
                  <a:pt x="0" y="617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383" r="0" b="-538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89586" y="5545217"/>
            <a:ext cx="5122669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Capital Inefficiency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9586" y="6030839"/>
            <a:ext cx="5122669" cy="109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Users choose yield </a:t>
            </a:r>
            <a:r>
              <a:rPr lang="en-US" sz="24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or</a:t>
            </a: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liquidity — never both simultaneously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8312" y="4560532"/>
            <a:ext cx="617658" cy="617677"/>
          </a:xfrm>
          <a:custGeom>
            <a:avLst/>
            <a:gdLst/>
            <a:ahLst/>
            <a:cxnLst/>
            <a:rect r="r" b="b" t="t" l="l"/>
            <a:pathLst>
              <a:path h="617677" w="617658">
                <a:moveTo>
                  <a:pt x="0" y="0"/>
                </a:moveTo>
                <a:lnTo>
                  <a:pt x="617658" y="0"/>
                </a:lnTo>
                <a:lnTo>
                  <a:pt x="617658" y="617677"/>
                </a:lnTo>
                <a:lnTo>
                  <a:pt x="0" y="61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3074" r="0" b="-3307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98312" y="5545217"/>
            <a:ext cx="5122669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Stellar Has No Yield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8312" y="6030839"/>
            <a:ext cx="5122669" cy="109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Zero native tranching, fixed-income, or structured products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49278"/>
            <a:ext cx="876662" cy="234591"/>
            <a:chOff x="0" y="0"/>
            <a:chExt cx="1168883" cy="312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908" cy="312801"/>
            </a:xfrm>
            <a:custGeom>
              <a:avLst/>
              <a:gdLst/>
              <a:ahLst/>
              <a:cxnLst/>
              <a:rect r="r" b="b" t="t" l="l"/>
              <a:pathLst>
                <a:path h="312801" w="116890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099693" y="0"/>
                  </a:lnTo>
                  <a:cubicBezTo>
                    <a:pt x="1137920" y="0"/>
                    <a:pt x="1168908" y="30988"/>
                    <a:pt x="1168908" y="69215"/>
                  </a:cubicBezTo>
                  <a:lnTo>
                    <a:pt x="1168908" y="243586"/>
                  </a:lnTo>
                  <a:cubicBezTo>
                    <a:pt x="1168908" y="281813"/>
                    <a:pt x="1137920" y="312801"/>
                    <a:pt x="1099693" y="312801"/>
                  </a:cubicBezTo>
                  <a:lnTo>
                    <a:pt x="69215" y="312801"/>
                  </a:lnTo>
                  <a:cubicBezTo>
                    <a:pt x="30988" y="312801"/>
                    <a:pt x="0" y="281813"/>
                    <a:pt x="0" y="24358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3509" y="886082"/>
            <a:ext cx="1606477" cy="15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"/>
              </a:lnSpc>
            </a:pPr>
            <a:r>
              <a:rPr lang="en-US" sz="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PROTOCOL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095651"/>
            <a:ext cx="16140112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Three Layers. One Integrated Stack.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59" y="1616497"/>
            <a:ext cx="14641468" cy="8236039"/>
            <a:chOff x="0" y="0"/>
            <a:chExt cx="19521957" cy="1098138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73509" y="9417923"/>
            <a:ext cx="1457265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Capital enters through orbit-vault, is structured by orbit-tranche, and deployed as collateral via orbit-market — all within a single composable protocol.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49278"/>
            <a:ext cx="862070" cy="234591"/>
            <a:chOff x="0" y="0"/>
            <a:chExt cx="1149426" cy="312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9477" cy="312801"/>
            </a:xfrm>
            <a:custGeom>
              <a:avLst/>
              <a:gdLst/>
              <a:ahLst/>
              <a:cxnLst/>
              <a:rect r="r" b="b" t="t" l="l"/>
              <a:pathLst>
                <a:path h="312801" w="1149477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080262" y="0"/>
                  </a:lnTo>
                  <a:cubicBezTo>
                    <a:pt x="1118489" y="0"/>
                    <a:pt x="1149477" y="30988"/>
                    <a:pt x="1149477" y="69215"/>
                  </a:cubicBezTo>
                  <a:lnTo>
                    <a:pt x="1149477" y="243586"/>
                  </a:lnTo>
                  <a:cubicBezTo>
                    <a:pt x="1149477" y="281813"/>
                    <a:pt x="1118489" y="312801"/>
                    <a:pt x="1080262" y="312801"/>
                  </a:cubicBezTo>
                  <a:lnTo>
                    <a:pt x="69215" y="312801"/>
                  </a:lnTo>
                  <a:cubicBezTo>
                    <a:pt x="30988" y="312801"/>
                    <a:pt x="0" y="281813"/>
                    <a:pt x="0" y="24358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3509" y="886082"/>
            <a:ext cx="1591875" cy="15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"/>
              </a:lnSpc>
            </a:pPr>
            <a:r>
              <a:rPr lang="en-US" sz="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USER JOURNEY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095651"/>
            <a:ext cx="16140112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From Deposit to Collateralized Loan in 5 Steps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59" y="1616497"/>
            <a:ext cx="14641468" cy="8236039"/>
            <a:chOff x="0" y="0"/>
            <a:chExt cx="19521957" cy="1098138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11894" y="8413137"/>
            <a:ext cx="16295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Each step executes on-chain via Soroban smart contracts. No manual compounding. No fragmented UX. Full capital efficiency from first deposit to active loan.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79215"/>
            <a:ext cx="1531258" cy="293122"/>
            <a:chOff x="0" y="0"/>
            <a:chExt cx="2041677" cy="390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1652" cy="390906"/>
            </a:xfrm>
            <a:custGeom>
              <a:avLst/>
              <a:gdLst/>
              <a:ahLst/>
              <a:cxnLst/>
              <a:rect r="r" b="b" t="t" l="l"/>
              <a:pathLst>
                <a:path h="390906" w="2041652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955165" y="0"/>
                  </a:lnTo>
                  <a:cubicBezTo>
                    <a:pt x="2002917" y="0"/>
                    <a:pt x="2041652" y="38735"/>
                    <a:pt x="2041652" y="86487"/>
                  </a:cubicBezTo>
                  <a:lnTo>
                    <a:pt x="2041652" y="304419"/>
                  </a:lnTo>
                  <a:cubicBezTo>
                    <a:pt x="2041652" y="352171"/>
                    <a:pt x="2002917" y="390906"/>
                    <a:pt x="1955165" y="390906"/>
                  </a:cubicBezTo>
                  <a:lnTo>
                    <a:pt x="86487" y="390906"/>
                  </a:lnTo>
                  <a:cubicBezTo>
                    <a:pt x="38735" y="390779"/>
                    <a:pt x="0" y="352171"/>
                    <a:pt x="0" y="304419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6588" y="927487"/>
            <a:ext cx="2214896" cy="18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MARKET OPPORTUNITY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192025"/>
            <a:ext cx="16140112" cy="51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$48B Market With Zero Native Competition on Stellar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859" y="2047342"/>
            <a:ext cx="5279507" cy="5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4"/>
              </a:lnSpc>
            </a:pPr>
            <a:r>
              <a:rPr lang="en-US" sz="495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$48B+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859" y="2785577"/>
            <a:ext cx="5279507" cy="2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Total DeFi TVL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859" y="3089729"/>
            <a:ext cx="5279507" cy="27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Addressable yield market (DefiLlama, 2024)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1090" y="2047342"/>
            <a:ext cx="5279507" cy="5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4"/>
              </a:lnSpc>
            </a:pPr>
            <a:r>
              <a:rPr lang="en-US" sz="495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$600M+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1090" y="2785577"/>
            <a:ext cx="5279507" cy="2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Stellar Liquidity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1090" y="3089729"/>
            <a:ext cx="5279507" cy="27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Active ecosystem capital (Stellar Development Foundation)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1321" y="2047342"/>
            <a:ext cx="5279650" cy="5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4"/>
              </a:lnSpc>
            </a:pPr>
            <a:r>
              <a:rPr lang="en-US" sz="495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41321" y="2785577"/>
            <a:ext cx="5279650" cy="2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Native Tranching Protocols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41321" y="3089729"/>
            <a:ext cx="5279650" cy="27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 Stellar today — Orbit is the first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859" y="3640503"/>
            <a:ext cx="7834579" cy="5639486"/>
            <a:chOff x="0" y="0"/>
            <a:chExt cx="10446106" cy="751931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446131" cy="7519289"/>
            </a:xfrm>
            <a:custGeom>
              <a:avLst/>
              <a:gdLst/>
              <a:ahLst/>
              <a:cxnLst/>
              <a:rect r="r" b="b" t="t" l="l"/>
              <a:pathLst>
                <a:path h="7519289" w="10446131">
                  <a:moveTo>
                    <a:pt x="0" y="0"/>
                  </a:moveTo>
                  <a:lnTo>
                    <a:pt x="10446131" y="0"/>
                  </a:lnTo>
                  <a:lnTo>
                    <a:pt x="10446131" y="7519289"/>
                  </a:lnTo>
                  <a:lnTo>
                    <a:pt x="0" y="751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95927" y="3584819"/>
            <a:ext cx="7834579" cy="53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5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Stellar's TVL is early-stage relative to Ethereum and Solana — representing a first-mover window for native yield infrastructure before the ecosystem matures.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49278"/>
            <a:ext cx="1407195" cy="234591"/>
            <a:chOff x="0" y="0"/>
            <a:chExt cx="1876260" cy="312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6298" cy="312801"/>
            </a:xfrm>
            <a:custGeom>
              <a:avLst/>
              <a:gdLst/>
              <a:ahLst/>
              <a:cxnLst/>
              <a:rect r="r" b="b" t="t" l="l"/>
              <a:pathLst>
                <a:path h="312801" w="187629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807083" y="0"/>
                  </a:lnTo>
                  <a:cubicBezTo>
                    <a:pt x="1845310" y="0"/>
                    <a:pt x="1876298" y="30988"/>
                    <a:pt x="1876298" y="69215"/>
                  </a:cubicBezTo>
                  <a:lnTo>
                    <a:pt x="1876298" y="243586"/>
                  </a:lnTo>
                  <a:cubicBezTo>
                    <a:pt x="1876298" y="281813"/>
                    <a:pt x="1845310" y="312801"/>
                    <a:pt x="1807083" y="312801"/>
                  </a:cubicBezTo>
                  <a:lnTo>
                    <a:pt x="69215" y="312801"/>
                  </a:lnTo>
                  <a:cubicBezTo>
                    <a:pt x="30988" y="312801"/>
                    <a:pt x="0" y="281813"/>
                    <a:pt x="0" y="24358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3509" y="886082"/>
            <a:ext cx="2137000" cy="15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"/>
              </a:lnSpc>
            </a:pPr>
            <a:r>
              <a:rPr lang="en-US" sz="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TECHNICAL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095651"/>
            <a:ext cx="16140112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Full-Stack Soroban Deployment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59" y="1616497"/>
            <a:ext cx="14641468" cy="8236039"/>
            <a:chOff x="0" y="0"/>
            <a:chExt cx="19521957" cy="1098138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859" y="9920316"/>
            <a:ext cx="169598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Contracts deployed and verified on Stellar Expert. SEP-40 oracles provide price feeds. Supabase handles off-chain indexing. PWA ensures mobile-native access via Freighter, Albedo, and xBull wallets.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4809" y="-402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859" y="1503150"/>
            <a:ext cx="2295030" cy="469325"/>
            <a:chOff x="0" y="0"/>
            <a:chExt cx="3060040" cy="625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9938" cy="625729"/>
            </a:xfrm>
            <a:custGeom>
              <a:avLst/>
              <a:gdLst/>
              <a:ahLst/>
              <a:cxnLst/>
              <a:rect r="r" b="b" t="t" l="l"/>
              <a:pathLst>
                <a:path h="625729" w="3059938">
                  <a:moveTo>
                    <a:pt x="0" y="138303"/>
                  </a:moveTo>
                  <a:cubicBezTo>
                    <a:pt x="0" y="61976"/>
                    <a:pt x="61976" y="0"/>
                    <a:pt x="138303" y="0"/>
                  </a:cubicBezTo>
                  <a:lnTo>
                    <a:pt x="2921635" y="0"/>
                  </a:lnTo>
                  <a:cubicBezTo>
                    <a:pt x="2998089" y="0"/>
                    <a:pt x="3059938" y="61976"/>
                    <a:pt x="3059938" y="138303"/>
                  </a:cubicBezTo>
                  <a:lnTo>
                    <a:pt x="3059938" y="487426"/>
                  </a:lnTo>
                  <a:cubicBezTo>
                    <a:pt x="3059938" y="563880"/>
                    <a:pt x="2997962" y="625729"/>
                    <a:pt x="2921635" y="625729"/>
                  </a:cubicBezTo>
                  <a:lnTo>
                    <a:pt x="138303" y="625729"/>
                  </a:lnTo>
                  <a:cubicBezTo>
                    <a:pt x="61976" y="625729"/>
                    <a:pt x="0" y="563880"/>
                    <a:pt x="0" y="48742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6149" y="1576740"/>
            <a:ext cx="2839555" cy="30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SHIPPED IN 48 HOURS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859" y="2057848"/>
            <a:ext cx="9276921" cy="81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Built From Your Feedback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80859" y="3331140"/>
            <a:ext cx="9276921" cy="2575998"/>
          </a:xfrm>
          <a:custGeom>
            <a:avLst/>
            <a:gdLst/>
            <a:ahLst/>
            <a:cxnLst/>
            <a:rect r="r" b="b" t="t" l="l"/>
            <a:pathLst>
              <a:path h="2575998" w="9276921">
                <a:moveTo>
                  <a:pt x="0" y="0"/>
                </a:moveTo>
                <a:lnTo>
                  <a:pt x="9276921" y="0"/>
                </a:lnTo>
                <a:lnTo>
                  <a:pt x="9276921" y="2575998"/>
                </a:lnTo>
                <a:lnTo>
                  <a:pt x="0" y="2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10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80264" y="3658981"/>
            <a:ext cx="8430644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Production-Grade Zap Router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0264" y="4144613"/>
            <a:ext cx="8430644" cy="59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Atomic swap + deposit in a single transaction via allowance pattern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0264" y="5090922"/>
            <a:ext cx="1347016" cy="469325"/>
            <a:chOff x="0" y="0"/>
            <a:chExt cx="1796021" cy="6257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5907" cy="625729"/>
            </a:xfrm>
            <a:custGeom>
              <a:avLst/>
              <a:gdLst/>
              <a:ahLst/>
              <a:cxnLst/>
              <a:rect r="r" b="b" t="t" l="l"/>
              <a:pathLst>
                <a:path h="625729" w="1795907">
                  <a:moveTo>
                    <a:pt x="0" y="138303"/>
                  </a:moveTo>
                  <a:cubicBezTo>
                    <a:pt x="0" y="61976"/>
                    <a:pt x="61976" y="0"/>
                    <a:pt x="138303" y="0"/>
                  </a:cubicBezTo>
                  <a:lnTo>
                    <a:pt x="1657604" y="0"/>
                  </a:lnTo>
                  <a:cubicBezTo>
                    <a:pt x="1734058" y="0"/>
                    <a:pt x="1795907" y="61976"/>
                    <a:pt x="1795907" y="138303"/>
                  </a:cubicBezTo>
                  <a:lnTo>
                    <a:pt x="1795907" y="487426"/>
                  </a:lnTo>
                  <a:cubicBezTo>
                    <a:pt x="1795907" y="563880"/>
                    <a:pt x="1733931" y="625729"/>
                    <a:pt x="1657604" y="625729"/>
                  </a:cubicBezTo>
                  <a:lnTo>
                    <a:pt x="138303" y="625729"/>
                  </a:lnTo>
                  <a:cubicBezTo>
                    <a:pt x="61976" y="625729"/>
                    <a:pt x="0" y="563880"/>
                    <a:pt x="0" y="48742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65544" y="5164512"/>
            <a:ext cx="976455" cy="30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✓ SHIPPED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80859" y="6215901"/>
            <a:ext cx="9276921" cy="2575998"/>
          </a:xfrm>
          <a:custGeom>
            <a:avLst/>
            <a:gdLst/>
            <a:ahLst/>
            <a:cxnLst/>
            <a:rect r="r" b="b" t="t" l="l"/>
            <a:pathLst>
              <a:path h="2575998" w="9276921">
                <a:moveTo>
                  <a:pt x="0" y="0"/>
                </a:moveTo>
                <a:lnTo>
                  <a:pt x="9276921" y="0"/>
                </a:lnTo>
                <a:lnTo>
                  <a:pt x="9276921" y="2575998"/>
                </a:lnTo>
                <a:lnTo>
                  <a:pt x="0" y="2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10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80264" y="6543742"/>
            <a:ext cx="8430644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Auto-Compounding Vaults &amp; Keeper Bot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0264" y="7029364"/>
            <a:ext cx="8430644" cy="59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Live orbit-yield-strategy contract + automated harvest keeper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80264" y="7975683"/>
            <a:ext cx="1347016" cy="469325"/>
            <a:chOff x="0" y="0"/>
            <a:chExt cx="1796021" cy="6257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95907" cy="625729"/>
            </a:xfrm>
            <a:custGeom>
              <a:avLst/>
              <a:gdLst/>
              <a:ahLst/>
              <a:cxnLst/>
              <a:rect r="r" b="b" t="t" l="l"/>
              <a:pathLst>
                <a:path h="625729" w="1795907">
                  <a:moveTo>
                    <a:pt x="0" y="138303"/>
                  </a:moveTo>
                  <a:cubicBezTo>
                    <a:pt x="0" y="61976"/>
                    <a:pt x="61976" y="0"/>
                    <a:pt x="138303" y="0"/>
                  </a:cubicBezTo>
                  <a:lnTo>
                    <a:pt x="1657604" y="0"/>
                  </a:lnTo>
                  <a:cubicBezTo>
                    <a:pt x="1734058" y="0"/>
                    <a:pt x="1795907" y="61976"/>
                    <a:pt x="1795907" y="138303"/>
                  </a:cubicBezTo>
                  <a:lnTo>
                    <a:pt x="1795907" y="487426"/>
                  </a:lnTo>
                  <a:cubicBezTo>
                    <a:pt x="1795907" y="563880"/>
                    <a:pt x="1733931" y="625729"/>
                    <a:pt x="1657604" y="625729"/>
                  </a:cubicBezTo>
                  <a:lnTo>
                    <a:pt x="138303" y="625729"/>
                  </a:lnTo>
                  <a:cubicBezTo>
                    <a:pt x="61976" y="625729"/>
                    <a:pt x="0" y="563880"/>
                    <a:pt x="0" y="48742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5544" y="8049273"/>
            <a:ext cx="976455" cy="30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✓ SHIPPED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49278"/>
            <a:ext cx="807853" cy="234591"/>
            <a:chOff x="0" y="0"/>
            <a:chExt cx="1077138" cy="312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7214" cy="312801"/>
            </a:xfrm>
            <a:custGeom>
              <a:avLst/>
              <a:gdLst/>
              <a:ahLst/>
              <a:cxnLst/>
              <a:rect r="r" b="b" t="t" l="l"/>
              <a:pathLst>
                <a:path h="312801" w="1077214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007999" y="0"/>
                  </a:lnTo>
                  <a:cubicBezTo>
                    <a:pt x="1046226" y="0"/>
                    <a:pt x="1077214" y="30988"/>
                    <a:pt x="1077214" y="69215"/>
                  </a:cubicBezTo>
                  <a:lnTo>
                    <a:pt x="1077214" y="243586"/>
                  </a:lnTo>
                  <a:cubicBezTo>
                    <a:pt x="1077214" y="281813"/>
                    <a:pt x="1046226" y="312801"/>
                    <a:pt x="1007999" y="312801"/>
                  </a:cubicBezTo>
                  <a:lnTo>
                    <a:pt x="69215" y="312801"/>
                  </a:lnTo>
                  <a:cubicBezTo>
                    <a:pt x="30988" y="312801"/>
                    <a:pt x="0" y="281813"/>
                    <a:pt x="0" y="24358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3509" y="886082"/>
            <a:ext cx="1537668" cy="15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"/>
              </a:lnSpc>
            </a:pPr>
            <a:r>
              <a:rPr lang="en-US" sz="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LIVE 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095651"/>
            <a:ext cx="16140112" cy="4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Testnet Is Live. Proof Is On-Chain.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859" y="1750800"/>
            <a:ext cx="8021803" cy="45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859" y="2319080"/>
            <a:ext cx="8021803" cy="2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Contracts Deployed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859" y="2558434"/>
            <a:ext cx="8021803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All verified on Stellar Expert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9178" y="1750800"/>
            <a:ext cx="8021803" cy="45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[X]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9178" y="2319080"/>
            <a:ext cx="8021803" cy="2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Verified Transactions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99178" y="2558434"/>
            <a:ext cx="8021803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Live on Stellar Testnet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82912" y="3051381"/>
            <a:ext cx="617696" cy="54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[X]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859" y="3619662"/>
            <a:ext cx="8021803" cy="2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Unique Wallets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859" y="3859016"/>
            <a:ext cx="8021803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Connected during testnet phase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99178" y="3051381"/>
            <a:ext cx="8021803" cy="45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[X]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99178" y="3619662"/>
            <a:ext cx="8021803" cy="2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Feedback Responses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99178" y="3859016"/>
            <a:ext cx="8021803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Collected via user form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859" y="4237025"/>
            <a:ext cx="10359276" cy="5870353"/>
            <a:chOff x="0" y="0"/>
            <a:chExt cx="13812368" cy="782713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3812393" cy="7827137"/>
            </a:xfrm>
            <a:custGeom>
              <a:avLst/>
              <a:gdLst/>
              <a:ahLst/>
              <a:cxnLst/>
              <a:rect r="r" b="b" t="t" l="l"/>
              <a:pathLst>
                <a:path h="7827137" w="13812393">
                  <a:moveTo>
                    <a:pt x="0" y="0"/>
                  </a:moveTo>
                  <a:lnTo>
                    <a:pt x="13812393" y="0"/>
                  </a:lnTo>
                  <a:lnTo>
                    <a:pt x="13812393" y="7827137"/>
                  </a:lnTo>
                  <a:lnTo>
                    <a:pt x="0" y="7827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591744" y="7043426"/>
            <a:ext cx="900589" cy="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See It Live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55129" y="7402310"/>
            <a:ext cx="540417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Live demo: </a:t>
            </a:r>
            <a:r>
              <a:rPr lang="en-US" sz="19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stellarorbit.vercel.app</a:t>
            </a:r>
          </a:p>
          <a:p>
            <a:pPr algn="l">
              <a:lnSpc>
                <a:spcPts val="2281"/>
              </a:lnSpc>
            </a:pPr>
            <a:r>
              <a:rPr lang="en-US" sz="19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Video walkthrough available on YouTube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891140"/>
            <a:ext cx="1585770" cy="410642"/>
            <a:chOff x="0" y="0"/>
            <a:chExt cx="2114360" cy="5475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4296" cy="547497"/>
            </a:xfrm>
            <a:custGeom>
              <a:avLst/>
              <a:gdLst/>
              <a:ahLst/>
              <a:cxnLst/>
              <a:rect r="r" b="b" t="t" l="l"/>
              <a:pathLst>
                <a:path h="547497" w="2114296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993265" y="0"/>
                  </a:lnTo>
                  <a:cubicBezTo>
                    <a:pt x="2060067" y="0"/>
                    <a:pt x="2114296" y="54229"/>
                    <a:pt x="2114296" y="121031"/>
                  </a:cubicBezTo>
                  <a:lnTo>
                    <a:pt x="2114296" y="426466"/>
                  </a:lnTo>
                  <a:cubicBezTo>
                    <a:pt x="2114296" y="493268"/>
                    <a:pt x="2060067" y="547497"/>
                    <a:pt x="1993265" y="547497"/>
                  </a:cubicBezTo>
                  <a:lnTo>
                    <a:pt x="121031" y="547497"/>
                  </a:lnTo>
                  <a:cubicBezTo>
                    <a:pt x="54229" y="547497"/>
                    <a:pt x="0" y="493268"/>
                    <a:pt x="0" y="42646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2908" y="953110"/>
            <a:ext cx="2176767" cy="26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65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GO-TO-MARKET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1358255"/>
            <a:ext cx="16140112" cy="71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Three Phases to Institutional Scale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59" y="5915177"/>
            <a:ext cx="16140112" cy="38129"/>
            <a:chOff x="0" y="0"/>
            <a:chExt cx="21520150" cy="50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20150" cy="50800"/>
            </a:xfrm>
            <a:custGeom>
              <a:avLst/>
              <a:gdLst/>
              <a:ahLst/>
              <a:cxnLst/>
              <a:rect r="r" b="b" t="t" l="l"/>
              <a:pathLst>
                <a:path h="50800" w="2152015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494750" y="0"/>
                  </a:lnTo>
                  <a:cubicBezTo>
                    <a:pt x="21508847" y="0"/>
                    <a:pt x="21520150" y="11430"/>
                    <a:pt x="21520150" y="25400"/>
                  </a:cubicBezTo>
                  <a:cubicBezTo>
                    <a:pt x="21520150" y="39497"/>
                    <a:pt x="21508720" y="50800"/>
                    <a:pt x="21494750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22875" y="5104476"/>
            <a:ext cx="38129" cy="810701"/>
            <a:chOff x="0" y="0"/>
            <a:chExt cx="50838" cy="10809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080897"/>
            </a:xfrm>
            <a:custGeom>
              <a:avLst/>
              <a:gdLst/>
              <a:ahLst/>
              <a:cxnLst/>
              <a:rect r="r" b="b" t="t" l="l"/>
              <a:pathLst>
                <a:path h="108089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55497"/>
                  </a:lnTo>
                  <a:cubicBezTo>
                    <a:pt x="50800" y="1069594"/>
                    <a:pt x="39370" y="1080897"/>
                    <a:pt x="25400" y="1080897"/>
                  </a:cubicBezTo>
                  <a:cubicBezTo>
                    <a:pt x="11430" y="1080897"/>
                    <a:pt x="0" y="1069467"/>
                    <a:pt x="0" y="105549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33192" y="5606415"/>
            <a:ext cx="617506" cy="617525"/>
            <a:chOff x="0" y="0"/>
            <a:chExt cx="823341" cy="8233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3341" cy="823341"/>
            </a:xfrm>
            <a:custGeom>
              <a:avLst/>
              <a:gdLst/>
              <a:ahLst/>
              <a:cxnLst/>
              <a:rect r="r" b="b" t="t" l="l"/>
              <a:pathLst>
                <a:path h="823341" w="823341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669671" y="0"/>
                  </a:lnTo>
                  <a:cubicBezTo>
                    <a:pt x="754507" y="0"/>
                    <a:pt x="823341" y="68834"/>
                    <a:pt x="823341" y="153670"/>
                  </a:cubicBezTo>
                  <a:lnTo>
                    <a:pt x="823341" y="669671"/>
                  </a:lnTo>
                  <a:cubicBezTo>
                    <a:pt x="823341" y="754507"/>
                    <a:pt x="754507" y="823341"/>
                    <a:pt x="669671" y="823341"/>
                  </a:cubicBezTo>
                  <a:lnTo>
                    <a:pt x="153670" y="823341"/>
                  </a:lnTo>
                  <a:cubicBezTo>
                    <a:pt x="68834" y="823341"/>
                    <a:pt x="0" y="754507"/>
                    <a:pt x="0" y="669671"/>
                  </a:cubicBezTo>
                  <a:close/>
                </a:path>
              </a:pathLst>
            </a:custGeom>
            <a:solidFill>
              <a:srgbClr val="E6E6E6"/>
            </a:solidFill>
            <a:ln w="9532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79819" y="5712543"/>
            <a:ext cx="324241" cy="405279"/>
            <a:chOff x="0" y="0"/>
            <a:chExt cx="432321" cy="5403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2326" cy="540370"/>
            </a:xfrm>
            <a:custGeom>
              <a:avLst/>
              <a:gdLst/>
              <a:ahLst/>
              <a:cxnLst/>
              <a:rect r="r" b="b" t="t" l="l"/>
              <a:pathLst>
                <a:path h="540370" w="432326">
                  <a:moveTo>
                    <a:pt x="0" y="0"/>
                  </a:moveTo>
                  <a:lnTo>
                    <a:pt x="432326" y="0"/>
                  </a:lnTo>
                  <a:lnTo>
                    <a:pt x="432326" y="540370"/>
                  </a:lnTo>
                  <a:lnTo>
                    <a:pt x="0" y="54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9" t="0" r="-11036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32321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51045" y="2407558"/>
            <a:ext cx="7381951" cy="35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Phase 1 — Now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1045" y="2839383"/>
            <a:ext cx="7381951" cy="47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Testnet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1045" y="3458461"/>
            <a:ext cx="7381951" cy="137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Community building &amp; feedback loops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Hackathon exposure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Contract audits initiated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31703" y="5915177"/>
            <a:ext cx="38129" cy="810701"/>
            <a:chOff x="0" y="0"/>
            <a:chExt cx="50838" cy="10809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" cy="1080897"/>
            </a:xfrm>
            <a:custGeom>
              <a:avLst/>
              <a:gdLst/>
              <a:ahLst/>
              <a:cxnLst/>
              <a:rect r="r" b="b" t="t" l="l"/>
              <a:pathLst>
                <a:path h="108089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55497"/>
                  </a:lnTo>
                  <a:cubicBezTo>
                    <a:pt x="50800" y="1069594"/>
                    <a:pt x="39370" y="1080897"/>
                    <a:pt x="25400" y="1080897"/>
                  </a:cubicBezTo>
                  <a:cubicBezTo>
                    <a:pt x="11430" y="1080897"/>
                    <a:pt x="0" y="1069467"/>
                    <a:pt x="0" y="105549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42019" y="5606415"/>
            <a:ext cx="617506" cy="617525"/>
            <a:chOff x="0" y="0"/>
            <a:chExt cx="823341" cy="8233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3341" cy="823341"/>
            </a:xfrm>
            <a:custGeom>
              <a:avLst/>
              <a:gdLst/>
              <a:ahLst/>
              <a:cxnLst/>
              <a:rect r="r" b="b" t="t" l="l"/>
              <a:pathLst>
                <a:path h="823341" w="823341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669671" y="0"/>
                  </a:lnTo>
                  <a:cubicBezTo>
                    <a:pt x="754507" y="0"/>
                    <a:pt x="823341" y="68834"/>
                    <a:pt x="823341" y="153670"/>
                  </a:cubicBezTo>
                  <a:lnTo>
                    <a:pt x="823341" y="669671"/>
                  </a:lnTo>
                  <a:cubicBezTo>
                    <a:pt x="823341" y="754507"/>
                    <a:pt x="754507" y="823341"/>
                    <a:pt x="669671" y="823341"/>
                  </a:cubicBezTo>
                  <a:lnTo>
                    <a:pt x="153670" y="823341"/>
                  </a:lnTo>
                  <a:cubicBezTo>
                    <a:pt x="68834" y="823341"/>
                    <a:pt x="0" y="754507"/>
                    <a:pt x="0" y="669671"/>
                  </a:cubicBezTo>
                  <a:close/>
                </a:path>
              </a:pathLst>
            </a:custGeom>
            <a:solidFill>
              <a:srgbClr val="E6E6E6"/>
            </a:solidFill>
            <a:ln w="9532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988647" y="5712543"/>
            <a:ext cx="324241" cy="405279"/>
            <a:chOff x="0" y="0"/>
            <a:chExt cx="432321" cy="5403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2326" cy="540370"/>
            </a:xfrm>
            <a:custGeom>
              <a:avLst/>
              <a:gdLst/>
              <a:ahLst/>
              <a:cxnLst/>
              <a:rect r="r" b="b" t="t" l="l"/>
              <a:pathLst>
                <a:path h="540370" w="432326">
                  <a:moveTo>
                    <a:pt x="0" y="0"/>
                  </a:moveTo>
                  <a:lnTo>
                    <a:pt x="432326" y="0"/>
                  </a:lnTo>
                  <a:lnTo>
                    <a:pt x="432326" y="540370"/>
                  </a:lnTo>
                  <a:lnTo>
                    <a:pt x="0" y="54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9" t="0" r="-11036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32321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459873" y="6977024"/>
            <a:ext cx="7381951" cy="35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Phase 2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59873" y="7408850"/>
            <a:ext cx="7381951" cy="47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Mainnet Launch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59873" y="8027927"/>
            <a:ext cx="7381951" cy="137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Live Blend Protocol integration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SEP-24 fiat on-ramp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Institutional wallet support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240683" y="5104476"/>
            <a:ext cx="38129" cy="810701"/>
            <a:chOff x="0" y="0"/>
            <a:chExt cx="50838" cy="10809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1080897"/>
            </a:xfrm>
            <a:custGeom>
              <a:avLst/>
              <a:gdLst/>
              <a:ahLst/>
              <a:cxnLst/>
              <a:rect r="r" b="b" t="t" l="l"/>
              <a:pathLst>
                <a:path h="108089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055497"/>
                  </a:lnTo>
                  <a:cubicBezTo>
                    <a:pt x="50800" y="1069594"/>
                    <a:pt x="39370" y="1080897"/>
                    <a:pt x="25400" y="1080897"/>
                  </a:cubicBezTo>
                  <a:cubicBezTo>
                    <a:pt x="11430" y="1080897"/>
                    <a:pt x="0" y="1069467"/>
                    <a:pt x="0" y="105549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950990" y="5606415"/>
            <a:ext cx="617506" cy="617525"/>
            <a:chOff x="0" y="0"/>
            <a:chExt cx="823341" cy="8233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3341" cy="823341"/>
            </a:xfrm>
            <a:custGeom>
              <a:avLst/>
              <a:gdLst/>
              <a:ahLst/>
              <a:cxnLst/>
              <a:rect r="r" b="b" t="t" l="l"/>
              <a:pathLst>
                <a:path h="823341" w="823341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669671" y="0"/>
                  </a:lnTo>
                  <a:cubicBezTo>
                    <a:pt x="754507" y="0"/>
                    <a:pt x="823341" y="68834"/>
                    <a:pt x="823341" y="153670"/>
                  </a:cubicBezTo>
                  <a:lnTo>
                    <a:pt x="823341" y="669671"/>
                  </a:lnTo>
                  <a:cubicBezTo>
                    <a:pt x="823341" y="754507"/>
                    <a:pt x="754507" y="823341"/>
                    <a:pt x="669671" y="823341"/>
                  </a:cubicBezTo>
                  <a:lnTo>
                    <a:pt x="153670" y="823341"/>
                  </a:lnTo>
                  <a:cubicBezTo>
                    <a:pt x="68834" y="823341"/>
                    <a:pt x="0" y="754507"/>
                    <a:pt x="0" y="669671"/>
                  </a:cubicBezTo>
                  <a:close/>
                </a:path>
              </a:pathLst>
            </a:custGeom>
            <a:solidFill>
              <a:srgbClr val="E6E6E6"/>
            </a:solidFill>
            <a:ln w="9532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097627" y="5712543"/>
            <a:ext cx="324241" cy="405279"/>
            <a:chOff x="0" y="0"/>
            <a:chExt cx="432321" cy="5403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2326" cy="540370"/>
            </a:xfrm>
            <a:custGeom>
              <a:avLst/>
              <a:gdLst/>
              <a:ahLst/>
              <a:cxnLst/>
              <a:rect r="r" b="b" t="t" l="l"/>
              <a:pathLst>
                <a:path h="540370" w="432326">
                  <a:moveTo>
                    <a:pt x="0" y="0"/>
                  </a:moveTo>
                  <a:lnTo>
                    <a:pt x="432326" y="0"/>
                  </a:lnTo>
                  <a:lnTo>
                    <a:pt x="432326" y="540370"/>
                  </a:lnTo>
                  <a:lnTo>
                    <a:pt x="0" y="54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9" t="0" r="-11036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32321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68844" y="2407558"/>
            <a:ext cx="7381951" cy="35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Phase 3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68844" y="2839383"/>
            <a:ext cx="7381951" cy="47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Protocol DAO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68844" y="3458461"/>
            <a:ext cx="7381951" cy="137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Governance token launch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Cross-chain bridges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Institutional market-making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859" y="2070030"/>
            <a:ext cx="1244098" cy="469325"/>
            <a:chOff x="0" y="0"/>
            <a:chExt cx="1658798" cy="6257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8747" cy="625729"/>
            </a:xfrm>
            <a:custGeom>
              <a:avLst/>
              <a:gdLst/>
              <a:ahLst/>
              <a:cxnLst/>
              <a:rect r="r" b="b" t="t" l="l"/>
              <a:pathLst>
                <a:path h="625729" w="1658747">
                  <a:moveTo>
                    <a:pt x="0" y="138303"/>
                  </a:moveTo>
                  <a:cubicBezTo>
                    <a:pt x="0" y="61976"/>
                    <a:pt x="61976" y="0"/>
                    <a:pt x="138303" y="0"/>
                  </a:cubicBezTo>
                  <a:lnTo>
                    <a:pt x="1520444" y="0"/>
                  </a:lnTo>
                  <a:cubicBezTo>
                    <a:pt x="1596898" y="0"/>
                    <a:pt x="1658747" y="61976"/>
                    <a:pt x="1658747" y="138303"/>
                  </a:cubicBezTo>
                  <a:lnTo>
                    <a:pt x="1658747" y="487426"/>
                  </a:lnTo>
                  <a:cubicBezTo>
                    <a:pt x="1658747" y="563880"/>
                    <a:pt x="1596771" y="625729"/>
                    <a:pt x="1520444" y="625729"/>
                  </a:cubicBezTo>
                  <a:lnTo>
                    <a:pt x="138303" y="625729"/>
                  </a:lnTo>
                  <a:cubicBezTo>
                    <a:pt x="61976" y="625729"/>
                    <a:pt x="0" y="563880"/>
                    <a:pt x="0" y="487426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6149" y="2143620"/>
            <a:ext cx="1788633" cy="30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ROADMAP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859" y="2624728"/>
            <a:ext cx="16140112" cy="81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What's Live, What's Next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8498" y="3898030"/>
            <a:ext cx="8138122" cy="4326988"/>
            <a:chOff x="0" y="0"/>
            <a:chExt cx="10850829" cy="57693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50880" cy="5769356"/>
            </a:xfrm>
            <a:custGeom>
              <a:avLst/>
              <a:gdLst/>
              <a:ahLst/>
              <a:cxnLst/>
              <a:rect r="r" b="b" t="t" l="l"/>
              <a:pathLst>
                <a:path h="5769356" w="10850880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10554335" y="0"/>
                  </a:lnTo>
                  <a:cubicBezTo>
                    <a:pt x="10718038" y="0"/>
                    <a:pt x="10850880" y="132715"/>
                    <a:pt x="10850880" y="296545"/>
                  </a:cubicBezTo>
                  <a:lnTo>
                    <a:pt x="10850880" y="5472811"/>
                  </a:lnTo>
                  <a:cubicBezTo>
                    <a:pt x="10850880" y="5636514"/>
                    <a:pt x="10718165" y="5769356"/>
                    <a:pt x="10554335" y="5769356"/>
                  </a:cubicBezTo>
                  <a:lnTo>
                    <a:pt x="296545" y="5769356"/>
                  </a:lnTo>
                  <a:cubicBezTo>
                    <a:pt x="132715" y="5769356"/>
                    <a:pt x="0" y="5636514"/>
                    <a:pt x="0" y="5472811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7251" y="4187733"/>
            <a:ext cx="2322076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 Live on Testnet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7251" y="4879134"/>
            <a:ext cx="7520616" cy="292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Soroban Yield Vaults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Yield Tranching — PT / YT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P2P Collateral Market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Auto-Compounding Keeper Bot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Production Zap Router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7125" y="4187733"/>
            <a:ext cx="1763078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In Progress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37125" y="4888668"/>
            <a:ext cx="8608476" cy="51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Mainnet deployment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37125" y="5695055"/>
            <a:ext cx="1576030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1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Upcoming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7125" y="6395980"/>
            <a:ext cx="7693390" cy="172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Governance &amp; DAO — Q1 2027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Cross-chain yield aggregation — Q2 2027</a:t>
            </a:r>
          </a:p>
          <a:p>
            <a:pPr algn="l" marL="435018" indent="-217509" lvl="1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Institutional fixed-income desk — Q3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DAHTHSPXnFk</dc:identifier>
  <dcterms:modified xsi:type="dcterms:W3CDTF">2011-08-01T06:04:30Z</dcterms:modified>
  <cp:revision>1</cp:revision>
  <dc:title>Institutional-Grade-Yield-on-Stellar-Soroban (1).pptx</dc:title>
</cp:coreProperties>
</file>